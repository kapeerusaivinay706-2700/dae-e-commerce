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64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D11B5-E1D2-734D-A891-0653E781530B}" v="87" dt="2026-09-21T08:49:43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7"/>
    <p:restoredTop sz="94698"/>
  </p:normalViewPr>
  <p:slideViewPr>
    <p:cSldViewPr snapToGrid="0" snapToObjects="1">
      <p:cViewPr varScale="1">
        <p:scale>
          <a:sx n="47" d="100"/>
          <a:sy n="47" d="100"/>
        </p:scale>
        <p:origin x="112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1688" y="731520"/>
            <a:ext cx="609814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Arial"/>
              </a:defRPr>
            </a:pPr>
            <a:endParaRPr lang="en-US" dirty="0"/>
          </a:p>
          <a:p>
            <a:pPr algn="ctr">
              <a:defRPr sz="3200" b="1">
                <a:latin typeface="Arial"/>
              </a:defRPr>
            </a:pPr>
            <a:r>
              <a:rPr dirty="0"/>
              <a:t>E-COMMERCE ORDERS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4999" y="1417320"/>
            <a:ext cx="743152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 lang="en-IN" dirty="0"/>
          </a:p>
          <a:p>
            <a:pPr algn="ctr">
              <a:defRPr sz="2300" b="1">
                <a:latin typeface="Arial"/>
              </a:defRPr>
            </a:pPr>
            <a:r>
              <a:rPr lang="en-IN" dirty="0"/>
              <a:t>ANALYSIS ESSENTIALS CORNERSTONE PROJECT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6132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endParaRPr lang="en-US" dirty="0"/>
          </a:p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endParaRPr lang="en-US" dirty="0"/>
          </a:p>
          <a:p>
            <a:pPr algn="ctr">
              <a:spcAft>
                <a:spcPts val="700"/>
              </a:spcAft>
              <a:defRPr sz="1800" b="1">
                <a:latin typeface="Arial"/>
              </a:defRPr>
            </a:pPr>
            <a:r>
              <a:rPr lang="en-US" dirty="0"/>
              <a:t>Presented by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US" dirty="0"/>
              <a:t>KAPEERU SAI VINAY : 25B11AI492</a:t>
            </a:r>
            <a:endParaRPr lang="en-IN" dirty="0"/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fi-FI" dirty="0"/>
              <a:t>KAPPALA HEMANTH SAI VENKATA VIDYA SAGAR : 25B11AI494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MACHGIRI RAVITEJA : 25B11AI281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GORLI KUSA RAJU : 26B11AI004</a:t>
            </a:r>
          </a:p>
          <a:p>
            <a:pPr algn="ctr">
              <a:spcAft>
                <a:spcPts val="700"/>
              </a:spcAft>
              <a:defRPr sz="1800">
                <a:latin typeface="Arial"/>
              </a:defRPr>
            </a:pPr>
            <a:r>
              <a:rPr dirty="0"/>
              <a:t>Department of Artificial Intelligence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rPr dirty="0"/>
              <a:t>ADITYA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E36C9-36A9-7126-B4AC-67207269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340" y="1563977"/>
            <a:ext cx="105613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1. Abstract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2. Introduction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3.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4. Requirements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5. Methodology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6.</a:t>
            </a:r>
            <a:r>
              <a:rPr lang="en-US" dirty="0"/>
              <a:t> Dataset Description and Understanding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US" dirty="0"/>
              <a:t>7. Data Preprocessing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US" dirty="0"/>
              <a:t>8. System Design and Methodology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9. Implementation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10. Data Visualization and Results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11. Model Evaluation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12. Output Screenshots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13. Conclusion and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E4DBDA-D694-2A39-A42B-BC3833E6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1.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5517"/>
            <a:ext cx="10561320" cy="491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E-Commerce Orders Data Analysis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⁠E-Commerce platforms generate large amounts of order data from daily transactions.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⁠This project </a:t>
            </a:r>
            <a:r>
              <a:rPr lang="en-IN" dirty="0" err="1"/>
              <a:t>analyzes</a:t>
            </a:r>
            <a:r>
              <a:rPr lang="en-IN" dirty="0"/>
              <a:t> order data to understand sales performance and customer behaviour.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dataset contains information about orders, products, customers, sales, quantity, payment method and order status.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⁠Raw data is processed through data cleaning and preprocessing to improve its quality.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project uses data analysis and visualization techniques to identify important patterns and trends.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⁠Results are presented using different charts and statistical visualizations.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•⁠  ⁠The final objective is to convert raw transaction data into meaningful business insights.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Key Idea: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600">
                <a:latin typeface="Arial"/>
              </a:defRPr>
            </a:pPr>
            <a:r>
              <a:rPr lang="en-IN" dirty="0"/>
              <a:t>Raw Data → Analysis → Visualization →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4B7E7-4887-5527-EEE0-F409E224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33426"/>
            <a:ext cx="10561320" cy="569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Introduction to E-Commerce Data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⁠E-Commerce platforms generate huge amounts of digital transaction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⁠This data includes customer details, product information, orders, sales, quantity, payment methods and order status.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⁠Individual transactions provide limited information, but combined data can reveal important business patterns.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⁠Data analysis helps understand customer purchasing behaviour and product performance.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⁠It also helps identify changes in sales and customer preferences.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⁠The project focuses on transforming raw order records into useful information for business analysis.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Problem Statement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⁠Duplicate records can affect sales calculations.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⁠Missing values can reduce data accuracy.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⁠Inconsistent category names can create incorrect groups.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⁠Incorrect date formats make time-based analysis difficult.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⁠Raw data does not directly provide clear business summaries.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BDF12-EA5F-04A7-FC3E-BCE1AA9D9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3.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400656"/>
            <a:ext cx="10561320" cy="513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E-Commerce Orders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The analysis focuses on: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⁠Total Sales — measuring overall revenue generated.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⁠Total Orders — understanding the number of transactions.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⁠Average Order Value — measuring the average value of an order.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⁠Customer Analysis — identifying purchasing behaviour and valuable customers.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⁠Product Analysis — finding top-selling and low-selling products.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⁠Category Analysis — comparing performance across categories.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⁠Payment Analysis — understanding payment-method preferences.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⁠Sales Trends — comparing performance across different months.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⁠Order Status Analysis — studying delivered, cancelled, returned and other order statuses.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Main Goal: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Identify important patterns, trends and business performance indicators from order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982BAC-5834-8F68-CAA1-5ACC04E76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rPr dirty="0"/>
              <a:t>4.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33426"/>
            <a:ext cx="4021282" cy="4037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Hardware Requirements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⁠Computer / Laptop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⁠Minimum 4 GB RAM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⁠Adequate storage space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⁠Internet connection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Software Requirements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⁠Python 3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⁠Jupyter Notebook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⁠Microsoft Excel / Google Sheets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⁠Power BI / Tableau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⁠Required Python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6030B-56A7-7E99-715B-4ECC598B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032F1-EB09-CC37-4762-FC6C2880323F}"/>
              </a:ext>
            </a:extLst>
          </p:cNvPr>
          <p:cNvSpPr txBox="1"/>
          <p:nvPr/>
        </p:nvSpPr>
        <p:spPr>
          <a:xfrm>
            <a:off x="6244936" y="1305341"/>
            <a:ext cx="4800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Requirements</a:t>
            </a:r>
          </a:p>
          <a:p>
            <a:r>
              <a:rPr lang="en-US" sz="2000" dirty="0"/>
              <a:t>•⁠  ⁠Order ID</a:t>
            </a:r>
          </a:p>
          <a:p>
            <a:r>
              <a:rPr lang="en-US" sz="2000" dirty="0"/>
              <a:t>•⁠  ⁠Customer ID</a:t>
            </a:r>
          </a:p>
          <a:p>
            <a:r>
              <a:rPr lang="en-US" sz="2000" dirty="0"/>
              <a:t>•⁠  ⁠Product details</a:t>
            </a:r>
          </a:p>
          <a:p>
            <a:r>
              <a:rPr lang="en-US" sz="2000" dirty="0"/>
              <a:t>•⁠  ⁠Product category</a:t>
            </a:r>
          </a:p>
          <a:p>
            <a:r>
              <a:rPr lang="en-US" sz="2000" dirty="0"/>
              <a:t>•⁠  ⁠Order date</a:t>
            </a:r>
          </a:p>
          <a:p>
            <a:r>
              <a:rPr lang="en-US" sz="2000" dirty="0"/>
              <a:t>•⁠  ⁠Quantity</a:t>
            </a:r>
          </a:p>
          <a:p>
            <a:r>
              <a:rPr lang="en-US" sz="2000" dirty="0"/>
              <a:t>•⁠  ⁠Price</a:t>
            </a:r>
          </a:p>
          <a:p>
            <a:r>
              <a:rPr lang="en-US" sz="2000" dirty="0"/>
              <a:t>•⁠  ⁠Sales / Revenue</a:t>
            </a:r>
          </a:p>
          <a:p>
            <a:r>
              <a:rPr lang="en-US" sz="2000" dirty="0"/>
              <a:t>•⁠  ⁠Payment method</a:t>
            </a:r>
          </a:p>
          <a:p>
            <a:r>
              <a:rPr lang="en-US" sz="2000" dirty="0"/>
              <a:t>•⁠  ⁠Order status</a:t>
            </a:r>
          </a:p>
          <a:p>
            <a:r>
              <a:rPr lang="en-US" sz="2000" dirty="0"/>
              <a:t>Main Requirement</a:t>
            </a:r>
          </a:p>
          <a:p>
            <a:r>
              <a:rPr lang="en-US" sz="2000" dirty="0"/>
              <a:t>A clean and structured E-Commerce dataset is essential for reliable analysis.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rPr dirty="0"/>
              <a:t>5.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345" y="1329270"/>
            <a:ext cx="537002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b="1" dirty="0"/>
              <a:t>Five-Stage Data Analysis Methodology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1 — Data Import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⁠Collect the E-Commerce dataset.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⁠Load the CSV file using Pandas.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⁠Understand the dataset structure and data types.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2 — Data Cleaning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⁠Remove duplicate records.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⁠Handle missing values.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⁠Correct inconsistent data.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3 — Data Analysis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⁠Calculate sales and order metrics.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⁠Analyse customers and products.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⁠Identify trends and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7E3BE-DD53-147C-D038-957F1631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8CBADD-C7FD-FAC3-5B2C-D8F5AE6BC3A2}"/>
              </a:ext>
            </a:extLst>
          </p:cNvPr>
          <p:cNvSpPr txBox="1"/>
          <p:nvPr/>
        </p:nvSpPr>
        <p:spPr>
          <a:xfrm>
            <a:off x="7148945" y="1223268"/>
            <a:ext cx="4218710" cy="4411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4 — Data Visualization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⁠Create charts, graphs and dashboards.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⁠Present important KPIs clearly.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Step 5 — Business Insights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⁠Interpret the results.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•⁠  ⁠Identify opportunities for improving sales and customer experience.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Workflow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rPr lang="en-IN" dirty="0"/>
              <a:t>Data Import → Data Cleaning → Data Analysis → Data Visualization → Business Insights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A5F0-5B30-E2B8-9C60-6C960BB0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76B300-8728-F103-DF17-66E3CEF9A57A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F9AA4-4A15-8436-3F03-7A2F99039602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ADA97-8066-9CDB-6A6C-08CEB41ED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39F043-42CB-E2C8-20FE-CE1CFD5B6B0D}"/>
              </a:ext>
            </a:extLst>
          </p:cNvPr>
          <p:cNvSpPr txBox="1"/>
          <p:nvPr/>
        </p:nvSpPr>
        <p:spPr>
          <a:xfrm>
            <a:off x="1423555" y="1417320"/>
            <a:ext cx="481099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Overview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⁠Dataset: E-Commerce Orders Dataset</a:t>
            </a:r>
          </a:p>
          <a:p>
            <a:r>
              <a:rPr lang="en-US" dirty="0"/>
              <a:t>•⁠  ⁠Format: CSV</a:t>
            </a:r>
          </a:p>
          <a:p>
            <a:r>
              <a:rPr lang="en-US" dirty="0"/>
              <a:t>•⁠  ⁠Records: 15,000</a:t>
            </a:r>
          </a:p>
          <a:p>
            <a:r>
              <a:rPr lang="en-US" dirty="0"/>
              <a:t>•⁠  ⁠Columns: 14</a:t>
            </a:r>
          </a:p>
          <a:p>
            <a:r>
              <a:rPr lang="en-US" dirty="0"/>
              <a:t>•⁠  ⁠Period: 12 months</a:t>
            </a:r>
          </a:p>
          <a:p>
            <a:r>
              <a:rPr lang="en-US" dirty="0"/>
              <a:t>•⁠  ⁠Loaded into Python using Pandas.</a:t>
            </a:r>
          </a:p>
          <a:p>
            <a:r>
              <a:rPr lang="en-US" dirty="0"/>
              <a:t>Customer Information</a:t>
            </a:r>
          </a:p>
          <a:p>
            <a:r>
              <a:rPr lang="en-US" dirty="0"/>
              <a:t>•⁠  ⁠Customer ID</a:t>
            </a:r>
          </a:p>
          <a:p>
            <a:r>
              <a:rPr lang="en-US" dirty="0"/>
              <a:t>•⁠  ⁠Customer Name</a:t>
            </a:r>
          </a:p>
          <a:p>
            <a:r>
              <a:rPr lang="en-US" dirty="0"/>
              <a:t>•⁠  ⁠Gender</a:t>
            </a:r>
          </a:p>
          <a:p>
            <a:r>
              <a:rPr lang="en-US" dirty="0"/>
              <a:t>•⁠  ⁠City</a:t>
            </a:r>
          </a:p>
          <a:p>
            <a:r>
              <a:rPr lang="en-US" dirty="0"/>
              <a:t>Product Information</a:t>
            </a:r>
          </a:p>
          <a:p>
            <a:r>
              <a:rPr lang="en-US" dirty="0"/>
              <a:t>•⁠  ⁠Product ID</a:t>
            </a:r>
          </a:p>
          <a:p>
            <a:r>
              <a:rPr lang="en-US" dirty="0"/>
              <a:t>•⁠  ⁠Product Name</a:t>
            </a:r>
          </a:p>
          <a:p>
            <a:r>
              <a:rPr lang="en-US" dirty="0"/>
              <a:t>•⁠  ⁠Category</a:t>
            </a:r>
          </a:p>
          <a:p>
            <a:r>
              <a:rPr lang="en-US" dirty="0"/>
              <a:t>•⁠  ⁠Price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07E46-520F-E4FE-4698-8941A5877B60}"/>
              </a:ext>
            </a:extLst>
          </p:cNvPr>
          <p:cNvSpPr txBox="1"/>
          <p:nvPr/>
        </p:nvSpPr>
        <p:spPr>
          <a:xfrm>
            <a:off x="7063740" y="1333426"/>
            <a:ext cx="3439391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Transaction Information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 ID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 Date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⁠Quantity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⁠Sales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⁠Payment Method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 Status</a:t>
            </a:r>
          </a:p>
          <a:p>
            <a:pPr>
              <a:lnSpc>
                <a:spcPct val="150000"/>
              </a:lnSpc>
            </a:pPr>
            <a:r>
              <a:rPr lang="en-US" dirty="0"/>
              <a:t>Important Point</a:t>
            </a:r>
          </a:p>
          <a:p>
            <a:pPr>
              <a:lnSpc>
                <a:spcPct val="150000"/>
              </a:lnSpc>
            </a:pPr>
            <a:r>
              <a:rPr lang="en-US" dirty="0"/>
              <a:t>The project is descriptive/exploratory analysis, not a prediction model. The Sales column is treated as the main measure of interest.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F73FC-8B28-2AE2-8F0E-86B36291DB35}"/>
              </a:ext>
            </a:extLst>
          </p:cNvPr>
          <p:cNvSpPr txBox="1"/>
          <p:nvPr/>
        </p:nvSpPr>
        <p:spPr>
          <a:xfrm>
            <a:off x="3574471" y="464788"/>
            <a:ext cx="782911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6.⁠ ⁠DATASET DESCRIPTION AND UNDERSTANDING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67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A532-116E-69A0-6BEB-4CA5C599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32F9F3-9256-97A5-1343-58F3835F0923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6796C-314B-FCAA-72A5-B93A4EF602F3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55280-62E3-0DD1-AE79-60902DCC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DD6E98-166C-3C3B-8C2D-933CB27DE611}"/>
              </a:ext>
            </a:extLst>
          </p:cNvPr>
          <p:cNvSpPr txBox="1"/>
          <p:nvPr/>
        </p:nvSpPr>
        <p:spPr>
          <a:xfrm>
            <a:off x="1237558" y="1421476"/>
            <a:ext cx="5465618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Preparing Data for Reliable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Missing Value Handling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⁠Identify missing values using Pandas.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⁠Fill numerical values using appropriate statistical methods.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⁠Fill categorical values using suitable categories or mode.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⁠Remove records where important fields cannot be repaired.</a:t>
            </a:r>
          </a:p>
          <a:p>
            <a:pPr>
              <a:lnSpc>
                <a:spcPct val="150000"/>
              </a:lnSpc>
            </a:pPr>
            <a:r>
              <a:rPr lang="en-US" dirty="0"/>
              <a:t>Duplicate Removal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⁠Identify duplicate orders.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⁠Remove repeated records.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⁠Prevent incorrect sales and order counts.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2565A-51C9-FB70-4810-F807867AC1FE}"/>
              </a:ext>
            </a:extLst>
          </p:cNvPr>
          <p:cNvSpPr txBox="1"/>
          <p:nvPr/>
        </p:nvSpPr>
        <p:spPr>
          <a:xfrm>
            <a:off x="6787861" y="1333426"/>
            <a:ext cx="4652529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Inconsistency Correction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⁠Standardize category and text values.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⁠Convert dates into proper datetime format.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⁠Remove invalid quantity and price values.</a:t>
            </a:r>
          </a:p>
          <a:p>
            <a:pPr>
              <a:lnSpc>
                <a:spcPct val="150000"/>
              </a:lnSpc>
            </a:pPr>
            <a:r>
              <a:rPr lang="en-US" dirty="0"/>
              <a:t>Sales Recalculation</a:t>
            </a:r>
          </a:p>
          <a:p>
            <a:pPr>
              <a:lnSpc>
                <a:spcPct val="150000"/>
              </a:lnSpc>
            </a:pPr>
            <a:r>
              <a:rPr lang="en-US" dirty="0"/>
              <a:t>Sales = Quantity × Price</a:t>
            </a:r>
          </a:p>
          <a:p>
            <a:pPr>
              <a:lnSpc>
                <a:spcPct val="150000"/>
              </a:lnSpc>
            </a:pPr>
            <a:r>
              <a:rPr lang="en-US" dirty="0"/>
              <a:t>Cleaning Result</a:t>
            </a:r>
          </a:p>
          <a:p>
            <a:pPr>
              <a:lnSpc>
                <a:spcPct val="150000"/>
              </a:lnSpc>
            </a:pPr>
            <a:r>
              <a:rPr lang="en-US" dirty="0"/>
              <a:t>Raw Dataset: 15,000 records</a:t>
            </a:r>
          </a:p>
          <a:p>
            <a:pPr>
              <a:lnSpc>
                <a:spcPct val="150000"/>
              </a:lnSpc>
            </a:pPr>
            <a:r>
              <a:rPr lang="en-US" dirty="0"/>
              <a:t>Final Cleaned Dataset: 14,538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729A2-68D4-CBFD-3791-6B6C8038FAC7}"/>
              </a:ext>
            </a:extLst>
          </p:cNvPr>
          <p:cNvSpPr txBox="1"/>
          <p:nvPr/>
        </p:nvSpPr>
        <p:spPr>
          <a:xfrm>
            <a:off x="4226501" y="320471"/>
            <a:ext cx="5122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7.⁠ ⁠DATA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59857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AF94-DAFA-4094-FAA1-B87848A8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5BF72-78F3-1CF1-442A-1C2408B8C868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3AFA2-BE09-61FF-ADC2-DA9906401C43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82648-12BB-0EE2-A333-DA387EB6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AFB5F3-47F5-03D9-4486-6EC7A822B12A}"/>
              </a:ext>
            </a:extLst>
          </p:cNvPr>
          <p:cNvSpPr txBox="1"/>
          <p:nvPr/>
        </p:nvSpPr>
        <p:spPr>
          <a:xfrm>
            <a:off x="1071007" y="1116330"/>
            <a:ext cx="114479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System Workflow INPUT</a:t>
            </a:r>
            <a:br>
              <a:rPr lang="en-IN" dirty="0"/>
            </a:br>
            <a:r>
              <a:rPr lang="en-IN" dirty="0"/>
              <a:t>E-Commerce CSV Dataset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IMPORT</a:t>
            </a:r>
            <a:br>
              <a:rPr lang="en-IN" dirty="0"/>
            </a:br>
            <a:r>
              <a:rPr lang="en-IN" dirty="0"/>
              <a:t>Load Dataset using Pandas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CLEANING</a:t>
            </a:r>
            <a:br>
              <a:rPr lang="en-IN" dirty="0"/>
            </a:br>
            <a:r>
              <a:rPr lang="en-IN" dirty="0"/>
              <a:t>Remove Duplicates • Handle Missing Values • Fix Inconsistencies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ANALYSIS</a:t>
            </a:r>
            <a:br>
              <a:rPr lang="en-IN" dirty="0"/>
            </a:br>
            <a:r>
              <a:rPr lang="en-IN" dirty="0"/>
              <a:t>Sales • Orders • Products • Customer Metrics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DATA VISUALIZATION</a:t>
            </a:r>
            <a:br>
              <a:rPr lang="en-IN" dirty="0"/>
            </a:br>
            <a:r>
              <a:rPr lang="en-IN" dirty="0"/>
              <a:t>Charts • Graphs • Dashboard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BUSINESS INSIGHTS</a:t>
            </a:r>
            <a:br>
              <a:rPr lang="en-IN" dirty="0"/>
            </a:br>
            <a:r>
              <a:rPr lang="en-IN" dirty="0"/>
              <a:t>Identify Trends • Patterns • Key Findings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OUTPUT</a:t>
            </a:r>
            <a:br>
              <a:rPr lang="en-IN" dirty="0"/>
            </a:br>
            <a:r>
              <a:rPr lang="en-IN" b="1" dirty="0"/>
              <a:t>Meaningful Business Insights</a:t>
            </a:r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F959B1-129C-6E44-D97B-246142837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140409"/>
              </p:ext>
            </p:extLst>
          </p:nvPr>
        </p:nvGraphicFramePr>
        <p:xfrm>
          <a:off x="7295536" y="1133006"/>
          <a:ext cx="4849769" cy="5176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4178">
                  <a:extLst>
                    <a:ext uri="{9D8B030D-6E8A-4147-A177-3AD203B41FA5}">
                      <a16:colId xmlns:a16="http://schemas.microsoft.com/office/drawing/2014/main" val="2042937845"/>
                    </a:ext>
                  </a:extLst>
                </a:gridCol>
                <a:gridCol w="1661413">
                  <a:extLst>
                    <a:ext uri="{9D8B030D-6E8A-4147-A177-3AD203B41FA5}">
                      <a16:colId xmlns:a16="http://schemas.microsoft.com/office/drawing/2014/main" val="2841512136"/>
                    </a:ext>
                  </a:extLst>
                </a:gridCol>
                <a:gridCol w="1594178">
                  <a:extLst>
                    <a:ext uri="{9D8B030D-6E8A-4147-A177-3AD203B41FA5}">
                      <a16:colId xmlns:a16="http://schemas.microsoft.com/office/drawing/2014/main" val="2983260566"/>
                    </a:ext>
                  </a:extLst>
                </a:gridCol>
              </a:tblGrid>
              <a:tr h="492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445147"/>
                  </a:ext>
                </a:extLst>
              </a:tr>
              <a:tr h="862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Import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Raw 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Raw DataFrame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21979"/>
                  </a:ext>
                </a:extLst>
              </a:tr>
              <a:tr h="862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Cleaning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Clean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607335"/>
                  </a:ext>
                </a:extLst>
              </a:tr>
              <a:tr h="862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Clean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Summary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497858"/>
                  </a:ext>
                </a:extLst>
              </a:tr>
              <a:tr h="862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Charts &amp;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685762"/>
                  </a:ext>
                </a:extLst>
              </a:tr>
              <a:tr h="1232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 Interpretations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0751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73CDCC8-C29E-CA46-FDDD-2CD619795AC1}"/>
              </a:ext>
            </a:extLst>
          </p:cNvPr>
          <p:cNvSpPr txBox="1"/>
          <p:nvPr/>
        </p:nvSpPr>
        <p:spPr>
          <a:xfrm>
            <a:off x="3709563" y="428519"/>
            <a:ext cx="7512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8. SYSTEM DESIGN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191840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BA4F-ABBF-9589-2291-BFD962345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45D077-41C3-ACEE-8842-2B0DC4424E28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8C954-B6E1-FA52-2C7F-8C727A05EC49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DC8F1-7B19-016D-CD00-D16C87A7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0FF91-3679-E5DD-85E9-545C5C30FC8B}"/>
              </a:ext>
            </a:extLst>
          </p:cNvPr>
          <p:cNvSpPr txBox="1"/>
          <p:nvPr/>
        </p:nvSpPr>
        <p:spPr>
          <a:xfrm>
            <a:off x="1111827" y="1333426"/>
            <a:ext cx="5361709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Development Environment</a:t>
            </a:r>
          </a:p>
          <a:p>
            <a:pPr>
              <a:lnSpc>
                <a:spcPct val="150000"/>
              </a:lnSpc>
            </a:pPr>
            <a:r>
              <a:rPr lang="en-US" dirty="0"/>
              <a:t>Programming Language</a:t>
            </a:r>
          </a:p>
          <a:p>
            <a:pPr>
              <a:lnSpc>
                <a:spcPct val="150000"/>
              </a:lnSpc>
            </a:pPr>
            <a:r>
              <a:rPr lang="en-US" dirty="0"/>
              <a:t>Python</a:t>
            </a:r>
          </a:p>
          <a:p>
            <a:pPr>
              <a:lnSpc>
                <a:spcPct val="150000"/>
              </a:lnSpc>
            </a:pPr>
            <a:r>
              <a:rPr lang="en-US" dirty="0"/>
              <a:t>Main Libraries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⁠Pandas — data loading, cleaning and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⁠NumPy — numerical operations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⁠Matplotlib — data visualization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⁠Seaborn — statistical visualization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⁠Scikit-learn — preprocessing techniques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F9EF5-6234-484D-6BAC-A3616040A57A}"/>
              </a:ext>
            </a:extLst>
          </p:cNvPr>
          <p:cNvSpPr txBox="1"/>
          <p:nvPr/>
        </p:nvSpPr>
        <p:spPr>
          <a:xfrm>
            <a:off x="6951518" y="1098197"/>
            <a:ext cx="46461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Implementation Steps</a:t>
            </a:r>
          </a:p>
          <a:p>
            <a:pPr>
              <a:lnSpc>
                <a:spcPct val="150000"/>
              </a:lnSpc>
            </a:pPr>
            <a:r>
              <a:rPr lang="en-US" dirty="0"/>
              <a:t> 1.⁠ ⁠Import required libraries.</a:t>
            </a:r>
          </a:p>
          <a:p>
            <a:pPr>
              <a:lnSpc>
                <a:spcPct val="150000"/>
              </a:lnSpc>
            </a:pPr>
            <a:r>
              <a:rPr lang="en-US" dirty="0"/>
              <a:t> 2.⁠ ⁠Load the CSV dataset.</a:t>
            </a:r>
          </a:p>
          <a:p>
            <a:pPr>
              <a:lnSpc>
                <a:spcPct val="150000"/>
              </a:lnSpc>
            </a:pPr>
            <a:r>
              <a:rPr lang="en-US" dirty="0"/>
              <a:t> 3.⁠ ⁠Explore rows, columns and data types.</a:t>
            </a:r>
          </a:p>
          <a:p>
            <a:pPr>
              <a:lnSpc>
                <a:spcPct val="150000"/>
              </a:lnSpc>
            </a:pPr>
            <a:r>
              <a:rPr lang="en-US" dirty="0"/>
              <a:t> 4.⁠ ⁠Check missing values and duplicates.</a:t>
            </a:r>
          </a:p>
          <a:p>
            <a:pPr>
              <a:lnSpc>
                <a:spcPct val="150000"/>
              </a:lnSpc>
            </a:pPr>
            <a:r>
              <a:rPr lang="en-US" dirty="0"/>
              <a:t> 5.⁠ ⁠Clean and preprocess the dataset.</a:t>
            </a:r>
          </a:p>
          <a:p>
            <a:pPr>
              <a:lnSpc>
                <a:spcPct val="150000"/>
              </a:lnSpc>
            </a:pPr>
            <a:r>
              <a:rPr lang="en-US" dirty="0"/>
              <a:t> 6.⁠ ⁠Perform exploratory data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 7.⁠ ⁠Calculate business metrics.</a:t>
            </a:r>
          </a:p>
          <a:p>
            <a:pPr>
              <a:lnSpc>
                <a:spcPct val="150000"/>
              </a:lnSpc>
            </a:pPr>
            <a:r>
              <a:rPr lang="en-US" dirty="0"/>
              <a:t> 8.⁠ ⁠Generate visualizations.</a:t>
            </a:r>
          </a:p>
          <a:p>
            <a:pPr>
              <a:lnSpc>
                <a:spcPct val="150000"/>
              </a:lnSpc>
            </a:pPr>
            <a:r>
              <a:rPr lang="en-US" dirty="0"/>
              <a:t> 9.⁠ ⁠Interpret the results.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15969-49FE-2843-DED5-6A3746620B5D}"/>
              </a:ext>
            </a:extLst>
          </p:cNvPr>
          <p:cNvSpPr txBox="1"/>
          <p:nvPr/>
        </p:nvSpPr>
        <p:spPr>
          <a:xfrm>
            <a:off x="3393996" y="5501450"/>
            <a:ext cx="696574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Core Operations</a:t>
            </a:r>
          </a:p>
          <a:p>
            <a:pPr>
              <a:lnSpc>
                <a:spcPct val="150000"/>
              </a:lnSpc>
            </a:pPr>
            <a:r>
              <a:rPr lang="en-US" dirty="0"/>
              <a:t>Filtering → Grouping → Aggregation → Sorting → Visualization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0BE5E-4EE4-36CA-1D55-C7C63A441DED}"/>
              </a:ext>
            </a:extLst>
          </p:cNvPr>
          <p:cNvSpPr txBox="1"/>
          <p:nvPr/>
        </p:nvSpPr>
        <p:spPr>
          <a:xfrm>
            <a:off x="3984913" y="338890"/>
            <a:ext cx="49772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 9.⁠ ⁠IMPLEMENTATION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45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B783-22DE-9A31-1288-4049F78E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E82D2-3DFB-764F-4223-1E4977FEF9F8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A5EFA-3FA7-F87C-54CB-9858BACA9198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BD10E-F57A-45B1-4E0C-F0103EA7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FE05A1-039F-A02A-C92A-32722DE3CEBB}"/>
              </a:ext>
            </a:extLst>
          </p:cNvPr>
          <p:cNvSpPr txBox="1"/>
          <p:nvPr/>
        </p:nvSpPr>
        <p:spPr>
          <a:xfrm>
            <a:off x="1439467" y="1286732"/>
            <a:ext cx="4083627" cy="545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Visualization Techniques</a:t>
            </a:r>
          </a:p>
          <a:p>
            <a:pPr>
              <a:lnSpc>
                <a:spcPct val="150000"/>
              </a:lnSpc>
            </a:pPr>
            <a:r>
              <a:rPr lang="en-US" dirty="0"/>
              <a:t>📊 Bar Chart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⁠Category-wise sales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⁠Top-selling products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⁠Order-status comparison</a:t>
            </a:r>
          </a:p>
          <a:p>
            <a:pPr>
              <a:lnSpc>
                <a:spcPct val="150000"/>
              </a:lnSpc>
            </a:pPr>
            <a:r>
              <a:rPr lang="en-US" dirty="0"/>
              <a:t>🥧 Pie Chart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⁠Payment-method distribution</a:t>
            </a:r>
          </a:p>
          <a:p>
            <a:pPr>
              <a:lnSpc>
                <a:spcPct val="150000"/>
              </a:lnSpc>
            </a:pPr>
            <a:r>
              <a:rPr lang="en-US" dirty="0"/>
              <a:t>📈 Line Chart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⁠Monthly sales trends</a:t>
            </a:r>
          </a:p>
          <a:p>
            <a:pPr>
              <a:lnSpc>
                <a:spcPct val="150000"/>
              </a:lnSpc>
            </a:pPr>
            <a:r>
              <a:rPr lang="en-US" dirty="0"/>
              <a:t>📊 Histogram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51515-01B5-179E-930E-ABA498650CE3}"/>
              </a:ext>
            </a:extLst>
          </p:cNvPr>
          <p:cNvSpPr txBox="1"/>
          <p:nvPr/>
        </p:nvSpPr>
        <p:spPr>
          <a:xfrm>
            <a:off x="6504709" y="1327191"/>
            <a:ext cx="50624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⁠Order-value distribution</a:t>
            </a:r>
          </a:p>
          <a:p>
            <a:pPr>
              <a:lnSpc>
                <a:spcPct val="150000"/>
              </a:lnSpc>
            </a:pPr>
            <a:r>
              <a:rPr lang="en-US" dirty="0"/>
              <a:t>📦 Box Plot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⁠Sales distribution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⁠Identifying outliers</a:t>
            </a:r>
          </a:p>
          <a:p>
            <a:pPr>
              <a:lnSpc>
                <a:spcPct val="150000"/>
              </a:lnSpc>
            </a:pPr>
            <a:r>
              <a:rPr lang="en-US" dirty="0"/>
              <a:t>🔵 Scatter Plot</a:t>
            </a:r>
          </a:p>
          <a:p>
            <a:pPr>
              <a:lnSpc>
                <a:spcPct val="150000"/>
              </a:lnSpc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⁠Relationship between quantity and sales</a:t>
            </a:r>
          </a:p>
          <a:p>
            <a:pPr>
              <a:lnSpc>
                <a:spcPct val="150000"/>
              </a:lnSpc>
            </a:pPr>
            <a:r>
              <a:rPr lang="en-US" dirty="0"/>
              <a:t>Result</a:t>
            </a:r>
          </a:p>
          <a:p>
            <a:pPr>
              <a:lnSpc>
                <a:spcPct val="150000"/>
              </a:lnSpc>
            </a:pPr>
            <a:r>
              <a:rPr lang="en-US" dirty="0"/>
              <a:t>Visualizations make complex numerical information easier to understand and compare.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C5AB0-78FE-D789-2542-2607ABF361BE}"/>
              </a:ext>
            </a:extLst>
          </p:cNvPr>
          <p:cNvSpPr txBox="1"/>
          <p:nvPr/>
        </p:nvSpPr>
        <p:spPr>
          <a:xfrm>
            <a:off x="3845329" y="497297"/>
            <a:ext cx="8108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10. DATA VISUALIZATION AND RESULTS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7378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97A9A-C903-EFDB-2D48-1E02E8EC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84BD6-E67D-F1BC-68FD-88648287926D}"/>
              </a:ext>
            </a:extLst>
          </p:cNvPr>
          <p:cNvSpPr txBox="1"/>
          <p:nvPr/>
        </p:nvSpPr>
        <p:spPr>
          <a:xfrm>
            <a:off x="1059870" y="1417320"/>
            <a:ext cx="107857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Evaluation</a:t>
            </a:r>
          </a:p>
          <a:p>
            <a:r>
              <a:rPr lang="en-US" dirty="0"/>
              <a:t>This project is a descriptive data-analysis project, so it does not use a predictive machine-learning model with conventional accuracy metrics.</a:t>
            </a:r>
          </a:p>
          <a:p>
            <a:r>
              <a:rPr lang="en-US" dirty="0"/>
              <a:t>Instead, the analysis is evaluated through:</a:t>
            </a:r>
          </a:p>
          <a:p>
            <a:r>
              <a:rPr lang="en-US" dirty="0"/>
              <a:t>•⁠  ⁠Data quality after preprocessing</a:t>
            </a:r>
          </a:p>
          <a:p>
            <a:r>
              <a:rPr lang="en-US" dirty="0"/>
              <a:t>•⁠  ⁠Correctness of calculated metrics</a:t>
            </a:r>
          </a:p>
          <a:p>
            <a:r>
              <a:rPr lang="en-US" dirty="0"/>
              <a:t>•⁠  ⁠Consistency of grouped results</a:t>
            </a:r>
          </a:p>
          <a:p>
            <a:r>
              <a:rPr lang="en-US" dirty="0"/>
              <a:t>•⁠  ⁠Clear visualization of patterns</a:t>
            </a:r>
          </a:p>
          <a:p>
            <a:r>
              <a:rPr lang="en-US" dirty="0"/>
              <a:t>•⁠  ⁠Interpretation of business trends</a:t>
            </a:r>
          </a:p>
          <a:p>
            <a:r>
              <a:rPr lang="en-US" dirty="0"/>
              <a:t>•⁠  ⁠Comparison of sales, products, customers and order </a:t>
            </a:r>
            <a:r>
              <a:rPr lang="en-US" dirty="0" err="1"/>
              <a:t>behaviour</a:t>
            </a:r>
            <a:endParaRPr lang="en-US" dirty="0"/>
          </a:p>
          <a:p>
            <a:r>
              <a:rPr lang="en-US" dirty="0"/>
              <a:t>Important Evaluation Areas</a:t>
            </a:r>
          </a:p>
          <a:p>
            <a:r>
              <a:rPr lang="en-US" dirty="0"/>
              <a:t>Data Quality → Analysis Accuracy → Visualization → Interpretation.</a:t>
            </a:r>
          </a:p>
          <a:p>
            <a:r>
              <a:rPr lang="en-US" dirty="0"/>
              <a:t>Key Point</a:t>
            </a:r>
          </a:p>
          <a:p>
            <a:r>
              <a:rPr lang="en-US" dirty="0"/>
              <a:t>The reliability of the final insights depends heavily on the quality of the cleaned dataset.</a:t>
            </a:r>
          </a:p>
          <a:p>
            <a:r>
              <a:rPr lang="en-US" dirty="0"/>
              <a:t>The documentation explicitly describes the project as exploratory/descriptive rather than predictive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60652-4152-8D56-14E3-4FCBFB861C0A}"/>
              </a:ext>
            </a:extLst>
          </p:cNvPr>
          <p:cNvSpPr txBox="1"/>
          <p:nvPr/>
        </p:nvSpPr>
        <p:spPr>
          <a:xfrm>
            <a:off x="4104407" y="356399"/>
            <a:ext cx="46966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11.⁠ ⁠MODEL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56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F3ADD-2AAB-5CA9-B744-1E1A3677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4C1C0-2565-D208-36F3-119512981F1A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50D3F-0766-EB10-E79C-37326E319E18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8DB4F-BF28-0C00-F9F5-D646D87E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65D9BD-F72D-4E0F-69AE-129434AE9C7F}"/>
              </a:ext>
            </a:extLst>
          </p:cNvPr>
          <p:cNvSpPr txBox="1"/>
          <p:nvPr/>
        </p:nvSpPr>
        <p:spPr>
          <a:xfrm>
            <a:off x="1122219" y="1073216"/>
            <a:ext cx="4973781" cy="586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Add actual screenshots from your implementation under these categories:</a:t>
            </a:r>
          </a:p>
          <a:p>
            <a:pPr>
              <a:lnSpc>
                <a:spcPct val="150000"/>
              </a:lnSpc>
            </a:pPr>
            <a:r>
              <a:rPr lang="en-US" dirty="0"/>
              <a:t> 1.⁠ ⁠Dataset Output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⁠Raw dataset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</a:t>
            </a:r>
            <a:r>
              <a:rPr lang="en-US" dirty="0" err="1"/>
              <a:t>df.head</a:t>
            </a:r>
            <a:r>
              <a:rPr lang="en-US" dirty="0"/>
              <a:t>()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⁠Dataset structure</a:t>
            </a:r>
          </a:p>
          <a:p>
            <a:pPr>
              <a:lnSpc>
                <a:spcPct val="150000"/>
              </a:lnSpc>
            </a:pPr>
            <a:r>
              <a:rPr lang="en-US" dirty="0"/>
              <a:t> 2.⁠ ⁠Preprocessing Output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⁠Missing-value results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⁠Duplicate count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⁠Cleaned dataset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⁠Record count after cleaning</a:t>
            </a:r>
          </a:p>
          <a:p>
            <a:pPr>
              <a:lnSpc>
                <a:spcPct val="150000"/>
              </a:lnSpc>
            </a:pPr>
            <a:r>
              <a:rPr lang="en-US" dirty="0"/>
              <a:t>3.⁠ ⁠Visualization Output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⁠Category-wise sales chart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⁠Payment-method pie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6CA28-0259-A77C-C6D2-0FA3AAE119FE}"/>
              </a:ext>
            </a:extLst>
          </p:cNvPr>
          <p:cNvSpPr txBox="1"/>
          <p:nvPr/>
        </p:nvSpPr>
        <p:spPr>
          <a:xfrm>
            <a:off x="6452754" y="1073216"/>
            <a:ext cx="5678885" cy="544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•⁠  ⁠Monthly sales line chart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⁠Order-value histogram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⁠Sales box plot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⁠Quantity vs Sales scatter plot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⁠Top-products chart</a:t>
            </a:r>
          </a:p>
          <a:p>
            <a:pPr>
              <a:lnSpc>
                <a:spcPct val="150000"/>
              </a:lnSpc>
            </a:pPr>
            <a:r>
              <a:rPr lang="en-US" dirty="0"/>
              <a:t>4.⁠ ⁠Analysis Output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⁠Total sales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⁠Total orders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⁠Average order value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⁠Category summary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⁠Top products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⁠Top customers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⁠Order-status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3193D-4ED0-3B99-DA27-96E8BA1A6C19}"/>
              </a:ext>
            </a:extLst>
          </p:cNvPr>
          <p:cNvSpPr txBox="1"/>
          <p:nvPr/>
        </p:nvSpPr>
        <p:spPr>
          <a:xfrm>
            <a:off x="4176800" y="311347"/>
            <a:ext cx="489411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12.⁠ ⁠OUTPUT SCREENSHOTS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33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93D0-4CDF-E9DC-B08C-F63BF302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6C0F2-EECE-F82C-1351-1E8D3322A5D3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98406-DAFE-EFE1-8C1B-53301A24419A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176C4-2D57-4228-85B5-64A4D167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344CA-4774-408F-B15F-9F6DF05D8619}"/>
              </a:ext>
            </a:extLst>
          </p:cNvPr>
          <p:cNvSpPr txBox="1"/>
          <p:nvPr/>
        </p:nvSpPr>
        <p:spPr>
          <a:xfrm>
            <a:off x="1433945" y="1431867"/>
            <a:ext cx="99233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⁠E-Commerce data analysis provides useful information about sales, customers, products and orders.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⁠Data preprocessing improves the quality and reliability of the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⁠The project identifies product performance, customer </a:t>
            </a:r>
            <a:r>
              <a:rPr lang="en-US" dirty="0" err="1"/>
              <a:t>behaviour</a:t>
            </a:r>
            <a:r>
              <a:rPr lang="en-US" dirty="0"/>
              <a:t>, payment preferences and sales trends.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⁠Visualization converts complex data into easily understandable information.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⁠The final insights can support decisions related to sales, inventory, marketing and customer satisfaction.</a:t>
            </a:r>
          </a:p>
          <a:p>
            <a:pPr>
              <a:lnSpc>
                <a:spcPct val="150000"/>
              </a:lnSpc>
            </a:pPr>
            <a:r>
              <a:rPr lang="en-US" dirty="0"/>
              <a:t>Final Message</a:t>
            </a:r>
          </a:p>
          <a:p>
            <a:pPr>
              <a:lnSpc>
                <a:spcPct val="150000"/>
              </a:lnSpc>
            </a:pPr>
            <a:r>
              <a:rPr lang="en-US" dirty="0"/>
              <a:t>Raw Data → Clean Data → Analysis → Visualization → Business Insights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22230-0F40-859A-4F38-895A0815663D}"/>
              </a:ext>
            </a:extLst>
          </p:cNvPr>
          <p:cNvSpPr txBox="1"/>
          <p:nvPr/>
        </p:nvSpPr>
        <p:spPr>
          <a:xfrm>
            <a:off x="3449782" y="372763"/>
            <a:ext cx="755894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13.⁠ ⁠CONCLUSION AND FUTURE ENHANCEMENTS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054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6941D-14A9-03DF-11FC-B229D641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EF24F0-3B47-DD93-DBE4-132FD1B8B678}"/>
              </a:ext>
            </a:extLst>
          </p:cNvPr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rial"/>
              </a:defRPr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869C9-B1E5-C888-5521-1E68B26D1FC4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5C91A-021D-E073-EFB7-84320D96E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0C1476-204C-C7BB-1CAC-753CC86E0A05}"/>
              </a:ext>
            </a:extLst>
          </p:cNvPr>
          <p:cNvSpPr txBox="1"/>
          <p:nvPr/>
        </p:nvSpPr>
        <p:spPr>
          <a:xfrm>
            <a:off x="1444336" y="1226127"/>
            <a:ext cx="9486900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FUTURE ENHANCEMENTS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⁠Real-time E-Commerce data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⁠Sales forecasting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⁠Customer churn prediction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⁠Product recommendation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⁠Automated business dashboards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⁠Integration with live E-Commerce platforms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⁠Advanced customer segmentation</a:t>
            </a:r>
          </a:p>
          <a:p>
            <a:pPr>
              <a:lnSpc>
                <a:spcPct val="150000"/>
              </a:lnSpc>
            </a:pPr>
            <a:r>
              <a:rPr lang="en-US" dirty="0"/>
              <a:t>•⁠  ⁠Machine-learning-based predictive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Current Limitation</a:t>
            </a:r>
          </a:p>
          <a:p>
            <a:pPr>
              <a:lnSpc>
                <a:spcPct val="150000"/>
              </a:lnSpc>
            </a:pPr>
            <a:r>
              <a:rPr lang="en-US" dirty="0"/>
              <a:t>The present project works with historical data and performs descriptive analysis; it does not currently provide real-time analysis or a predictive ML model. </a:t>
            </a:r>
          </a:p>
        </p:txBody>
      </p:sp>
    </p:spTree>
    <p:extLst>
      <p:ext uri="{BB962C8B-B14F-4D97-AF65-F5344CB8AC3E}">
        <p14:creationId xmlns:p14="http://schemas.microsoft.com/office/powerpoint/2010/main" val="4167663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20C3-B205-75A0-D572-15B51C7C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473531-BBE7-652A-D74C-052255E1D556}"/>
              </a:ext>
            </a:extLst>
          </p:cNvPr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rial"/>
              </a:defRPr>
            </a:pPr>
            <a:r>
              <a:t>ADITYA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4EC42-E469-BDD1-7E89-A8AB0D08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9" y="89489"/>
            <a:ext cx="3083561" cy="1243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17A6C1-FA4F-49FE-F236-4A8C1BDD2FB0}"/>
              </a:ext>
            </a:extLst>
          </p:cNvPr>
          <p:cNvSpPr txBox="1"/>
          <p:nvPr/>
        </p:nvSpPr>
        <p:spPr>
          <a:xfrm>
            <a:off x="3168534" y="2385984"/>
            <a:ext cx="7419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7604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1995</Words>
  <Application>Microsoft Office PowerPoint</Application>
  <PresentationFormat>Widescreen</PresentationFormat>
  <Paragraphs>306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vinay</dc:creator>
  <cp:keywords/>
  <dc:description>generated using python-pptx</dc:description>
  <cp:lastModifiedBy>Sai vinay</cp:lastModifiedBy>
  <cp:revision>5</cp:revision>
  <dcterms:created xsi:type="dcterms:W3CDTF">2013-01-27T09:14:16Z</dcterms:created>
  <dcterms:modified xsi:type="dcterms:W3CDTF">2026-10-20T15:49:06Z</dcterms:modified>
  <cp:category/>
</cp:coreProperties>
</file>